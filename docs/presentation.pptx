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41732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Вотчер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640080" y="24688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Сервис мониторинга цен и расписания сеансов в кинотеатрах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356616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9A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Выпускной проект цифровой кафедры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9A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Андрей Судовский · 2026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45262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A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· Celery · PostgreSQL · HTMX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320040"/>
            <a:ext cx="7543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26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Проблема: сколько на самом деле стоит билет?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2651760" cy="2011680"/>
          </a:xfrm>
          <a:prstGeom prst="rect">
            <a:avLst/>
          </a:prstGeom>
          <a:solidFill>
            <a:srgbClr val="F5F6F8"/>
          </a:solidFill>
          <a:ln w="12700">
            <a:solidFill>
              <a:srgbClr val="E3E6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4173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26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Цена «живёт»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40080" y="187452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Стоимость одного и того же сеанса меняется день ото дня — заранее не видно, дешевеет билет или дорожает.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291840" y="1234440"/>
            <a:ext cx="2651760" cy="2011680"/>
          </a:xfrm>
          <a:prstGeom prst="rect">
            <a:avLst/>
          </a:prstGeom>
          <a:solidFill>
            <a:srgbClr val="F5F6F8"/>
          </a:solidFill>
          <a:ln w="12700">
            <a:solidFill>
              <a:srgbClr val="E3E6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0" y="14173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26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Разброс в разы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474720" y="187452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фильм в один день в Москве идёт и за 150, и за 2000 рублей — выгодный сеанс приходится искать вручную.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0" y="1234440"/>
            <a:ext cx="2651760" cy="2011680"/>
          </a:xfrm>
          <a:prstGeom prst="rect">
            <a:avLst/>
          </a:prstGeom>
          <a:solidFill>
            <a:srgbClr val="F5F6F8"/>
          </a:solidFill>
          <a:ln w="12700">
            <a:solidFill>
              <a:srgbClr val="E3E6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9360" y="14173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26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Кино в оригинале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309360" y="187452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Показы с субтитрами разбросаны по нишевым площадкам: «Иллюзион», Москино, КАРО.Арт — единой картины нет.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57200" y="36118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97F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150 → 2000 ₽</a:t>
            </a:r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</a:rPr>
              <a:t>   реальные цены на «Майкла» в «Иллюзионе» за один день (Афиша.ру, 11.06.2026)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457200" y="4773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Вотчер · выпускной проект цифровой кафедры · 2026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320040"/>
            <a:ext cx="7543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26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Решение: автоматический мониторинг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52728"/>
            <a:ext cx="548640" cy="548640"/>
          </a:xfrm>
          <a:prstGeom prst="ellipse">
            <a:avLst/>
          </a:prstGeom>
          <a:solidFill>
            <a:srgbClr val="1B1F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2527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A3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25880" y="118872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26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Сбор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200400" y="118872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Celery beat опрашивает источники каждые 4 часа; снимок цены пишется только при её изменении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121408"/>
            <a:ext cx="548640" cy="548640"/>
          </a:xfrm>
          <a:prstGeom prst="ellipse">
            <a:avLst/>
          </a:prstGeom>
          <a:solidFill>
            <a:srgbClr val="1B1F2E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1214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A3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25880" y="205740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26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История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200400" y="205740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График цены по кинотеатрам — видно, где дешевле и когда покупать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2990088"/>
            <a:ext cx="548640" cy="548640"/>
          </a:xfrm>
          <a:prstGeom prst="ellipse">
            <a:avLst/>
          </a:prstGeom>
          <a:solidFill>
            <a:srgbClr val="1B1F2E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9900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A3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325880" y="292608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26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Сравнение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3200400" y="292608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Афиша с фильтрами: где дешевле и где показывают на языке оригинала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3858768"/>
            <a:ext cx="548640" cy="548640"/>
          </a:xfrm>
          <a:prstGeom prst="ellipse">
            <a:avLst/>
          </a:prstGeom>
          <a:solidFill>
            <a:srgbClr val="1B1F2E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8587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A3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325880" y="379476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26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Уведомления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3200400" y="379476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Telegram-бот пишет, когда цена по подписке опускается ниже порога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57200" y="4773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Вотчер · выпускной проект цифровой кафедры · 2026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320040"/>
            <a:ext cx="7543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26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Источники: 22 кинотеатра + автообнаружение</a:t>
            </a:r>
            <a:endParaRPr lang="en-US" sz="3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3291840"/>
                <a:gridCol w="219456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Источник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Как собираем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Особенность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E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3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«Иллюзион» (Госфильмофонд)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3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страница кинотеатра на Афише.ру: цены «от N ₽»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3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архив и показы в оригинале (SUB)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3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КАРО 11 Октябрь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3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та же страница Афиши, свой id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3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крупная сеть, КАРО.Арт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3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Сеть «Москино» — ~20 площадок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3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mos-kino.ru/schedule: все кинотеатры одной страницей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3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точные цены, пометка «СУБ»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388620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Список площадок живёт в БД: задача discover_cinemas еженедельно находит в каталоге Афиши кинотеатры, о которых мы не знали, — включение мониторинга одной галочкой в админке. </a:t>
            </a:r>
            <a:pPr indent="0" marL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Этика: интервал 4 часа, точечные страницы, User-Agent учебного проекта.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457200" y="4773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Вотчер · выпускной проект цифровой кафедры · 2026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320040"/>
            <a:ext cx="7543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26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Архитектура: поток данных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600200" cy="777240"/>
          </a:xfrm>
          <a:prstGeom prst="rect">
            <a:avLst/>
          </a:prstGeom>
          <a:solidFill>
            <a:srgbClr val="F5F6F8"/>
          </a:solidFill>
          <a:ln w="12700">
            <a:solidFill>
              <a:srgbClr val="E3E6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371600"/>
            <a:ext cx="13807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2326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Афиша.ру</a:t>
            </a:r>
            <a:endParaRPr lang="en-US" sz="13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Иллюзион, КАРО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57200" y="2331720"/>
            <a:ext cx="1600200" cy="777240"/>
          </a:xfrm>
          <a:prstGeom prst="rect">
            <a:avLst/>
          </a:prstGeom>
          <a:solidFill>
            <a:srgbClr val="F5F6F8"/>
          </a:solidFill>
          <a:ln w="12700">
            <a:solidFill>
              <a:srgbClr val="E3E6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2331720"/>
            <a:ext cx="13807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2326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mos-kino.ru</a:t>
            </a:r>
            <a:endParaRPr lang="en-US" sz="13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 кинотеатров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2606040" y="1783080"/>
            <a:ext cx="1737360" cy="1005840"/>
          </a:xfrm>
          <a:prstGeom prst="rect">
            <a:avLst/>
          </a:prstGeom>
          <a:solidFill>
            <a:srgbClr val="1B1F2E"/>
          </a:solidFill>
          <a:ln w="12700">
            <a:solidFill>
              <a:srgbClr val="1B1F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15768" y="1783080"/>
            <a:ext cx="15179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E8A3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Celery beat + парсеры</a:t>
            </a:r>
            <a:endParaRPr lang="en-US" sz="13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ED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каждые 4 ч, ретраи, журнал ScrapeRun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892040" y="1783080"/>
            <a:ext cx="1645920" cy="1005840"/>
          </a:xfrm>
          <a:prstGeom prst="rect">
            <a:avLst/>
          </a:prstGeom>
          <a:solidFill>
            <a:srgbClr val="F5F6F8"/>
          </a:solidFill>
          <a:ln w="12700">
            <a:solidFill>
              <a:srgbClr val="E3E6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01768" y="1783080"/>
            <a:ext cx="14264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2326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PostgreSQL</a:t>
            </a:r>
            <a:endParaRPr lang="en-US" sz="13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фильмы, сеансы, история цен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7086600" y="1371600"/>
            <a:ext cx="1600200" cy="777240"/>
          </a:xfrm>
          <a:prstGeom prst="rect">
            <a:avLst/>
          </a:prstGeom>
          <a:solidFill>
            <a:srgbClr val="F5F6F8"/>
          </a:solidFill>
          <a:ln w="12700">
            <a:solidFill>
              <a:srgbClr val="E3E6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96328" y="1371600"/>
            <a:ext cx="13807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2326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Django + HTMX</a:t>
            </a:r>
            <a:endParaRPr lang="en-US" sz="13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афиша, графики Chart.js, DRF API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7086600" y="2331720"/>
            <a:ext cx="1600200" cy="777240"/>
          </a:xfrm>
          <a:prstGeom prst="rect">
            <a:avLst/>
          </a:prstGeom>
          <a:solidFill>
            <a:srgbClr val="F5F6F8"/>
          </a:solidFill>
          <a:ln w="12700">
            <a:solidFill>
              <a:srgbClr val="E3E6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96328" y="2331720"/>
            <a:ext cx="13807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2326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Telegram-бот</a:t>
            </a:r>
            <a:endParaRPr lang="en-US" sz="13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цена ниже порога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2121408" y="1527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7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2121408" y="24871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7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407408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7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601968" y="1527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7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601968" y="24871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7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457200" y="3611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Монолит Django из четырёх приложений: </a:t>
            </a:r>
            <a:pPr indent="0" marL="0">
              <a:buNone/>
            </a:pPr>
            <a:r>
              <a:rPr lang="en-US" sz="1300" b="1" dirty="0">
                <a:solidFill>
                  <a:srgbClr val="2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· scraping · accounts · notifications</a:t>
            </a:r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 Инфраструктура: Docker Compose (web / worker / beat / db / redis).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C97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Ошибка одного источника не валит остальные — каждый парсер выполняется отдельной задачей.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57200" y="4773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Вотчер · выпускной проект цифровой кафедры · 2026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320040"/>
            <a:ext cx="7543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26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Расширяемость: паттерн «парсер-адаптер»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4937760" cy="3017520"/>
          </a:xfrm>
          <a:prstGeom prst="rect">
            <a:avLst/>
          </a:prstGeom>
          <a:solidFill>
            <a:srgbClr val="1B1F2E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417320"/>
            <a:ext cx="457200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8BC4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@dataclass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FB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SessionDTO: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D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cinema_slug: str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D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movie_title: str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D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starts_at: datetime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D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price_min: Decimal | None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D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original_language: bool = False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FB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BaseParser(ABC):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D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source_slug: str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D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fetch_sessions(self) -&gt; list[SessionDTO]: ...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760720" y="13258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7F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+1 источник = +1 класс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760720" y="1673352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наследник BaseParser регистрируется автоматически через __init_subclass__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760720" y="23317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7F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Общий пайплайн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760720" y="2679192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→ нормализация названий («Майкл» = «Michael», год) → upsert → снимок цены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760720" y="33375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7F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Ядро не меняется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760720" y="3685032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beat сам подхватывает новый источник; журнал запусков — в админке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4773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Вотчер · выпускной проект цифровой кафедры · 2026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320040"/>
            <a:ext cx="7543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26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Модель данных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965960" cy="1371600"/>
          </a:xfrm>
          <a:prstGeom prst="rect">
            <a:avLst/>
          </a:prstGeom>
          <a:solidFill>
            <a:srgbClr val="F5F6F8"/>
          </a:solidFill>
          <a:ln w="12700">
            <a:solidFill>
              <a:srgbClr val="E3E6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25880"/>
            <a:ext cx="1965960" cy="384048"/>
          </a:xfrm>
          <a:prstGeom prst="rect">
            <a:avLst/>
          </a:prstGeom>
          <a:solidFill>
            <a:srgbClr val="1B1F2E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32588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Cinema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66928" y="1783080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кинотеатр, сеть, флаги «нишевый», «мониторим»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606040" y="1325880"/>
            <a:ext cx="1965960" cy="1371600"/>
          </a:xfrm>
          <a:prstGeom prst="rect">
            <a:avLst/>
          </a:prstGeom>
          <a:solidFill>
            <a:srgbClr val="F5F6F8"/>
          </a:solidFill>
          <a:ln w="12700">
            <a:solidFill>
              <a:srgbClr val="E3E6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606040" y="1325880"/>
            <a:ext cx="1965960" cy="384048"/>
          </a:xfrm>
          <a:prstGeom prst="rect">
            <a:avLst/>
          </a:prstGeom>
          <a:solidFill>
            <a:srgbClr val="1B1F2E"/>
          </a:solidFill>
          <a:ln/>
        </p:spPr>
      </p:sp>
      <p:sp>
        <p:nvSpPr>
          <p:cNvPr id="10" name="Text 8"/>
          <p:cNvSpPr/>
          <p:nvPr/>
        </p:nvSpPr>
        <p:spPr>
          <a:xfrm>
            <a:off x="2715768" y="132588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Movie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715768" y="1783080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название + оригинальное, год, нормализация для матчинга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1325880"/>
            <a:ext cx="1965960" cy="1371600"/>
          </a:xfrm>
          <a:prstGeom prst="rect">
            <a:avLst/>
          </a:prstGeom>
          <a:solidFill>
            <a:srgbClr val="F5F6F8"/>
          </a:solidFill>
          <a:ln w="12700">
            <a:solidFill>
              <a:srgbClr val="E3E6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54880" y="1325880"/>
            <a:ext cx="1965960" cy="384048"/>
          </a:xfrm>
          <a:prstGeom prst="rect">
            <a:avLst/>
          </a:prstGeom>
          <a:solidFill>
            <a:srgbClr val="1B1F2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132588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64608" y="1783080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сеанс: время, формат, флаг «в оригинале»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903720" y="1325880"/>
            <a:ext cx="1965960" cy="1371600"/>
          </a:xfrm>
          <a:prstGeom prst="rect">
            <a:avLst/>
          </a:prstGeom>
          <a:solidFill>
            <a:srgbClr val="F5F6F8"/>
          </a:solidFill>
          <a:ln w="12700">
            <a:solidFill>
              <a:srgbClr val="E3E6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903720" y="1325880"/>
            <a:ext cx="1965960" cy="384048"/>
          </a:xfrm>
          <a:prstGeom prst="rect">
            <a:avLst/>
          </a:prstGeom>
          <a:solidFill>
            <a:srgbClr val="1B1F2E"/>
          </a:solidFill>
          <a:ln/>
        </p:spPr>
      </p:sp>
      <p:sp>
        <p:nvSpPr>
          <p:cNvPr id="18" name="Text 16"/>
          <p:cNvSpPr/>
          <p:nvPr/>
        </p:nvSpPr>
        <p:spPr>
          <a:xfrm>
            <a:off x="7013448" y="132588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PriceSnapshot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013448" y="1783080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история цен сеанса во времени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2926080"/>
            <a:ext cx="1965960" cy="1371600"/>
          </a:xfrm>
          <a:prstGeom prst="rect">
            <a:avLst/>
          </a:prstGeom>
          <a:solidFill>
            <a:srgbClr val="F5F6F8"/>
          </a:solidFill>
          <a:ln w="12700">
            <a:solidFill>
              <a:srgbClr val="E3E6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2926080"/>
            <a:ext cx="1965960" cy="384048"/>
          </a:xfrm>
          <a:prstGeom prst="rect">
            <a:avLst/>
          </a:prstGeom>
          <a:solidFill>
            <a:srgbClr val="1B1F2E"/>
          </a:solidFill>
          <a:ln/>
        </p:spPr>
      </p:sp>
      <p:sp>
        <p:nvSpPr>
          <p:cNvPr id="22" name="Text 20"/>
          <p:cNvSpPr/>
          <p:nvPr/>
        </p:nvSpPr>
        <p:spPr>
          <a:xfrm>
            <a:off x="566928" y="292608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ScrapeRun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66928" y="3383280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журнал запусков парсеров, ошибки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606040" y="2926080"/>
            <a:ext cx="1965960" cy="1371600"/>
          </a:xfrm>
          <a:prstGeom prst="rect">
            <a:avLst/>
          </a:prstGeom>
          <a:solidFill>
            <a:srgbClr val="F5F6F8"/>
          </a:solidFill>
          <a:ln w="12700">
            <a:solidFill>
              <a:srgbClr val="E3E6E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606040" y="2926080"/>
            <a:ext cx="1965960" cy="384048"/>
          </a:xfrm>
          <a:prstGeom prst="rect">
            <a:avLst/>
          </a:prstGeom>
          <a:solidFill>
            <a:srgbClr val="1B1F2E"/>
          </a:solidFill>
          <a:ln/>
        </p:spPr>
      </p:sp>
      <p:sp>
        <p:nvSpPr>
          <p:cNvPr id="26" name="Text 24"/>
          <p:cNvSpPr/>
          <p:nvPr/>
        </p:nvSpPr>
        <p:spPr>
          <a:xfrm>
            <a:off x="2715768" y="292608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Subscription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2715768" y="3383280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подписка: фильм/кинотеатр + порог цены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754880" y="2926080"/>
            <a:ext cx="1965960" cy="1371600"/>
          </a:xfrm>
          <a:prstGeom prst="rect">
            <a:avLst/>
          </a:prstGeom>
          <a:solidFill>
            <a:srgbClr val="F5F6F8"/>
          </a:solidFill>
          <a:ln w="12700">
            <a:solidFill>
              <a:srgbClr val="E3E6E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754880" y="2926080"/>
            <a:ext cx="1965960" cy="384048"/>
          </a:xfrm>
          <a:prstGeom prst="rect">
            <a:avLst/>
          </a:prstGeom>
          <a:solidFill>
            <a:srgbClr val="1B1F2E"/>
          </a:solidFill>
          <a:ln/>
        </p:spPr>
      </p:sp>
      <p:sp>
        <p:nvSpPr>
          <p:cNvPr id="30" name="Text 28"/>
          <p:cNvSpPr/>
          <p:nvPr/>
        </p:nvSpPr>
        <p:spPr>
          <a:xfrm>
            <a:off x="4864608" y="292608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NotificationLog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864608" y="3383280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отправленные уведомления — защита от дублей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903720" y="2926080"/>
            <a:ext cx="1965960" cy="1371600"/>
          </a:xfrm>
          <a:prstGeom prst="rect">
            <a:avLst/>
          </a:prstGeom>
          <a:solidFill>
            <a:srgbClr val="F5F6F8"/>
          </a:solidFill>
          <a:ln w="12700">
            <a:solidFill>
              <a:srgbClr val="E3E6E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903720" y="2926080"/>
            <a:ext cx="1965960" cy="384048"/>
          </a:xfrm>
          <a:prstGeom prst="rect">
            <a:avLst/>
          </a:prstGeom>
          <a:solidFill>
            <a:srgbClr val="1B1F2E"/>
          </a:solidFill>
          <a:ln/>
        </p:spPr>
      </p:sp>
      <p:sp>
        <p:nvSpPr>
          <p:cNvPr id="34" name="Text 32"/>
          <p:cNvSpPr/>
          <p:nvPr/>
        </p:nvSpPr>
        <p:spPr>
          <a:xfrm>
            <a:off x="7013448" y="292608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 (Django)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7013448" y="3383280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штатная аутентификация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57200" y="4773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Вотчер · выпускной проект цифровой кафедры · 2026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320040"/>
            <a:ext cx="7543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26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Качество и устойчивость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1965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C97F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457200" y="237744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автотестов: парсеры и discovery на фикстурах, подписки, уведомления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606040" y="1371600"/>
            <a:ext cx="1965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C97F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2606040" y="237744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реальных источника + demo-генератор для разработки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754880" y="1371600"/>
            <a:ext cx="1965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C97F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6000" dirty="0"/>
          </a:p>
        </p:txBody>
      </p:sp>
      <p:sp>
        <p:nvSpPr>
          <p:cNvPr id="9" name="Text 7"/>
          <p:cNvSpPr/>
          <p:nvPr/>
        </p:nvSpPr>
        <p:spPr>
          <a:xfrm>
            <a:off x="4754880" y="237744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замечаний ruff на всей кодовой базе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903720" y="1371600"/>
            <a:ext cx="1965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C97F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ч</a:t>
            </a:r>
            <a:endParaRPr lang="en-US" sz="6000" dirty="0"/>
          </a:p>
        </p:txBody>
      </p:sp>
      <p:sp>
        <p:nvSpPr>
          <p:cNvPr id="11" name="Text 9"/>
          <p:cNvSpPr/>
          <p:nvPr/>
        </p:nvSpPr>
        <p:spPr>
          <a:xfrm>
            <a:off x="6903720" y="237744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интервал сбора; снимок цены — только при изменении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429000"/>
            <a:ext cx="8229600" cy="1005840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352044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Тесты парсеров — на сохранённых копиях реальных страниц (фикстурах).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Смена вёрстки источника ломает тест, а не продакшен: падение видно в журнале ScrapeRun, остальные источники продолжают работать.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4773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Вотчер · выпускной проект цифровой кафедры · 2026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320040"/>
            <a:ext cx="7543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26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Демонстрация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651760" cy="2286000"/>
          </a:xfrm>
          <a:prstGeom prst="rect">
            <a:avLst/>
          </a:prstGeom>
          <a:solidFill>
            <a:srgbClr val="F5F6F8"/>
          </a:solidFill>
          <a:ln w="12700">
            <a:solidFill>
              <a:srgbClr val="C9CED6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457200" y="201168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скриншот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живого сервиса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37033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326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Афиша, поиск, новинки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57200" y="40233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минимальная цена по каждому фильму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91840" y="1280160"/>
            <a:ext cx="2651760" cy="2286000"/>
          </a:xfrm>
          <a:prstGeom prst="rect">
            <a:avLst/>
          </a:prstGeom>
          <a:solidFill>
            <a:srgbClr val="F5F6F8"/>
          </a:solidFill>
          <a:ln w="12700">
            <a:solidFill>
              <a:srgbClr val="C9CED6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3291840" y="201168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скриншот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живого сервиса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291840" y="37033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326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Страница фильма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291840" y="40233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график цены по кинотеатрам + сравнение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1280160"/>
            <a:ext cx="2651760" cy="2286000"/>
          </a:xfrm>
          <a:prstGeom prst="rect">
            <a:avLst/>
          </a:prstGeom>
          <a:solidFill>
            <a:srgbClr val="F5F6F8"/>
          </a:solidFill>
          <a:ln w="12700">
            <a:solidFill>
              <a:srgbClr val="C9CED6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6126480" y="201168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скриншот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живого сервиса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126480" y="37033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326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Подписки и Telegram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126480" y="40233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порог цены, уведомление о снижении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4773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Вотчер · выпускной проект цифровой кафедры · 2026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Итоги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164592" cy="16459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4" name="Text 2"/>
          <p:cNvSpPr/>
          <p:nvPr/>
        </p:nvSpPr>
        <p:spPr>
          <a:xfrm>
            <a:off x="1005840" y="132588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ED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готов: 22 кинотеатра, история цен, сравнение, фильтр «в оригинале», Telegram-уведомления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130552"/>
            <a:ext cx="164592" cy="16459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039112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ED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Архитектура расширяется без правки ядра: новый сайт = один класс-парсер, новые кинотеатры находятся автоматически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2843784"/>
            <a:ext cx="164592" cy="16459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2752344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ED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автотестов на фикстурах реальных страниц, журнал сбоев, деплой одной командой (Docker Compose)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35661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A3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Развитие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0080" y="397764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A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Яндекс Афиша через Playwright · другие города · прогноз цены (ML) · «индекс цены похода в кино» по Москве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40080" y="46177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Спасибо за внимание!  ·  Андрей Судовский  ·  github: kinomonitor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Вотчер — сервис мониторинга цен кинотеатров</dc:title>
  <dc:subject>PptxGenJS Presentation</dc:subject>
  <dc:creator>Андрей Судовский</dc:creator>
  <cp:lastModifiedBy>Андрей Судовский</cp:lastModifiedBy>
  <cp:revision>1</cp:revision>
  <dcterms:created xsi:type="dcterms:W3CDTF">2026-06-13T00:17:43Z</dcterms:created>
  <dcterms:modified xsi:type="dcterms:W3CDTF">2026-06-13T00:17:43Z</dcterms:modified>
</cp:coreProperties>
</file>